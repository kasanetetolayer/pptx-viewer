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我们六年级（4）班的毕业联欢会！今天，我们欢聚一堂，共同庆祝这个特别的时刻。这不仅是一场告别，更是一次充满欢笑和回忆的相聚。让我们一起享受这个美好的夜晚，为我们的小学生涯画上一个圆满的句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今晚的完整节目单，共19个环节。节目与游戏穿插安排，节奏更均衡。从精彩的舞蹈、动听的歌曲，到考验默契的小游戏，最后以全班合唱《再见》收尾。希望大家能够尽情参与，享受每一个精彩的瞬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首先，让我们用热烈的掌声欢迎何梓萌、胡梓涵、陈榆丹和廖红婷同学，为我们带来充满活力的小组舞蹈《果宝机甲》！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接下来，有请刘映辰同学为我们带来独唱《精卫》。让我们沉浸在他的歌声中，感受音乐的魅力。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在游戏之后，让我们静下心来，欣赏范小婉同学带来的古筝独奏《诀别书》。感受传统音乐的韵味和魅力。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现在是游戏时间！第一个游戏是“你画我猜”。这个游戏非常考验大家的想象力和默契。我们将邀请三组同学上台，看看哪一组能够最快猜出答案，赢得奖品！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接下来，有请张紫千和李蕙菡同学为我们带来合唱《雨爱》。让我们一起聆听这美妙的和声。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接下来是“你做我猜”游戏！这个游戏需要大家用肢体语言来表达，看看谁是真正的表演天才。同样，我们将邀请三组同学上台挑战，准备好你们的表演了吗？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在游戏之后，让我们用热烈的掌声欢迎刘宇辰同学，为我们带来深情的朗诵《致四班同学》。让我们一起感受这份同窗情谊。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现在，让我们全班同学一起参与“逢七过”游戏！这个游戏考验的是大家的反应速度。请大家集中注意力，准备好迎接挑战，说错的同学可是要表演节目的哦！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听完了感人的朗诵，让我们再次回到音乐的世界。有请李芳瑶和沈佳辰同学为我们带来合唱《离开我的依赖》。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游戏时间再次到来！这次是经典的“抢凳子”游戏。我们将邀请6位同学上台，伴随着音乐的节奏，看看谁能成为最后的胜利者！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接下来，刘宇辰同学将继续为我们带来朗诵《致老师》。让我们用最热烈的掌声，向辛勤教导我们的老师们表达最诚挚的感谢！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接下来是“瞎子摸人”游戏！这个游戏充满了未知和惊喜。我们将邀请5位同学参与，看看是“瞎子”技高一筹，还是其他人能成功躲避。请大家注意安全。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接下来，有请王汶千同学为我们带来独唱《纪念》。这首歌代表了我们对这段美好时光的怀念。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现在我们来玩一个更刺激的游戏——“蒙眼打人”！这个游戏需要信任和默契。请上台的同学注意力度，友谊第一，比赛第二哦！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现在是考验我们班级默契的时候了！“班级默契挑战”游戏即将开始。我们将提出一些关于“班级之最”的问题，看看谁是大家心中的那个“他”或“她”！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这些就是我们准备的“班级之最”问题，大家可以开始思考了。答案即将揭晓，看看谁会成为我们班的“睡神”、“迟到之神”和“甲骨文传承者”！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最激动人心的游戏来了——“真心话大冒险”！这个游戏充满了未知和刺激。请大家准备好你们的问题和指令，看看谁会成为今晚的幸运儿！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让我们再次回到全班参与的游戏——“击鼓传花”！音乐响起，花束传递，音乐停止时，手持花束的同学就要为大家表演一个节目。准备好了吗？音乐开始！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现在是自由活动时间！大家可以互相拍照留念，在同学录上写下对彼此的祝福。这是我们留下美好回忆的宝贵时刻。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快乐的时光总是短暂的，我们的联欢会也接近尾声。最后，让我们全体起立，一起合唱《再见》，为我们的小学生涯画上一个完美的句号。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再次感谢各位老师和同学们的到来与参与！毕业不是结束，而是新的开始。愿我们在未来的道路上，都能绽放出属于自己的光彩。六年级（4）班毕业联欢会到此结束，谢谢大家！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18" Type="http://schemas.openxmlformats.org/officeDocument/2006/relationships/image" Target="../media/image2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Relationship Id="rId14" Type="http://schemas.openxmlformats.org/officeDocument/2006/relationships/image" Target="../media/image4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13" Type="http://schemas.openxmlformats.org/officeDocument/2006/relationships/image" Target="../media/image53.png"/><Relationship Id="rId3" Type="http://schemas.openxmlformats.org/officeDocument/2006/relationships/image" Target="../media/image29.png"/><Relationship Id="rId7" Type="http://schemas.openxmlformats.org/officeDocument/2006/relationships/image" Target="../media/image47.png"/><Relationship Id="rId12" Type="http://schemas.openxmlformats.org/officeDocument/2006/relationships/image" Target="../media/image5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.sv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svg"/><Relationship Id="rId4" Type="http://schemas.openxmlformats.org/officeDocument/2006/relationships/image" Target="../media/image30.svg"/><Relationship Id="rId9" Type="http://schemas.openxmlformats.org/officeDocument/2006/relationships/image" Target="../media/image49.png"/><Relationship Id="rId14" Type="http://schemas.openxmlformats.org/officeDocument/2006/relationships/image" Target="../media/image5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10" Type="http://schemas.openxmlformats.org/officeDocument/2006/relationships/image" Target="../media/image64.svg"/><Relationship Id="rId4" Type="http://schemas.openxmlformats.org/officeDocument/2006/relationships/image" Target="../media/image58.svg"/><Relationship Id="rId9" Type="http://schemas.openxmlformats.org/officeDocument/2006/relationships/image" Target="../media/image6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svg"/><Relationship Id="rId3" Type="http://schemas.openxmlformats.org/officeDocument/2006/relationships/image" Target="../media/image29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10" Type="http://schemas.openxmlformats.org/officeDocument/2006/relationships/image" Target="../media/image70.svg"/><Relationship Id="rId4" Type="http://schemas.openxmlformats.org/officeDocument/2006/relationships/image" Target="../media/image30.svg"/><Relationship Id="rId9" Type="http://schemas.openxmlformats.org/officeDocument/2006/relationships/image" Target="../media/image6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7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10" Type="http://schemas.openxmlformats.org/officeDocument/2006/relationships/image" Target="../media/image76.svg"/><Relationship Id="rId4" Type="http://schemas.openxmlformats.org/officeDocument/2006/relationships/image" Target="../media/image30.svg"/><Relationship Id="rId9" Type="http://schemas.openxmlformats.org/officeDocument/2006/relationships/image" Target="../media/image7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svg"/><Relationship Id="rId3" Type="http://schemas.openxmlformats.org/officeDocument/2006/relationships/image" Target="../media/image29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10" Type="http://schemas.openxmlformats.org/officeDocument/2006/relationships/image" Target="../media/image80.svg"/><Relationship Id="rId4" Type="http://schemas.openxmlformats.org/officeDocument/2006/relationships/image" Target="../media/image30.svg"/><Relationship Id="rId9" Type="http://schemas.openxmlformats.org/officeDocument/2006/relationships/image" Target="../media/image7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svg"/><Relationship Id="rId3" Type="http://schemas.openxmlformats.org/officeDocument/2006/relationships/image" Target="../media/image81.png"/><Relationship Id="rId7" Type="http://schemas.openxmlformats.org/officeDocument/2006/relationships/image" Target="../media/image83.png"/><Relationship Id="rId12" Type="http://schemas.openxmlformats.org/officeDocument/2006/relationships/image" Target="../media/image86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svg"/><Relationship Id="rId11" Type="http://schemas.openxmlformats.org/officeDocument/2006/relationships/image" Target="../media/image85.png"/><Relationship Id="rId5" Type="http://schemas.openxmlformats.org/officeDocument/2006/relationships/image" Target="../media/image59.png"/><Relationship Id="rId10" Type="http://schemas.openxmlformats.org/officeDocument/2006/relationships/image" Target="../media/image34.svg"/><Relationship Id="rId4" Type="http://schemas.openxmlformats.org/officeDocument/2006/relationships/image" Target="../media/image82.svg"/><Relationship Id="rId9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sv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4" Type="http://schemas.openxmlformats.org/officeDocument/2006/relationships/image" Target="../media/image88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svg"/><Relationship Id="rId3" Type="http://schemas.openxmlformats.org/officeDocument/2006/relationships/image" Target="../media/image57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10" Type="http://schemas.openxmlformats.org/officeDocument/2006/relationships/image" Target="../media/image94.svg"/><Relationship Id="rId4" Type="http://schemas.openxmlformats.org/officeDocument/2006/relationships/image" Target="../media/image58.svg"/><Relationship Id="rId9" Type="http://schemas.openxmlformats.org/officeDocument/2006/relationships/image" Target="../media/image9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svg"/><Relationship Id="rId3" Type="http://schemas.openxmlformats.org/officeDocument/2006/relationships/image" Target="../media/image5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10" Type="http://schemas.openxmlformats.org/officeDocument/2006/relationships/image" Target="../media/image62.svg"/><Relationship Id="rId4" Type="http://schemas.openxmlformats.org/officeDocument/2006/relationships/image" Target="../media/image6.svg"/><Relationship Id="rId9" Type="http://schemas.openxmlformats.org/officeDocument/2006/relationships/image" Target="../media/image6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svg"/><Relationship Id="rId3" Type="http://schemas.openxmlformats.org/officeDocument/2006/relationships/image" Target="../media/image95.png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96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4.svg"/><Relationship Id="rId5" Type="http://schemas.openxmlformats.org/officeDocument/2006/relationships/image" Target="../media/image93.png"/><Relationship Id="rId4" Type="http://schemas.openxmlformats.org/officeDocument/2006/relationships/image" Target="../media/image6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2.svg"/><Relationship Id="rId5" Type="http://schemas.openxmlformats.org/officeDocument/2006/relationships/image" Target="../media/image101.png"/><Relationship Id="rId4" Type="http://schemas.openxmlformats.org/officeDocument/2006/relationships/image" Target="../media/image10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FD1C5">
                <a:alpha val="15000"/>
              </a:srgbClr>
            </a:gs>
            <a:gs pos="50000">
              <a:srgbClr val="FCD34D">
                <a:alpha val="10000"/>
              </a:srgbClr>
            </a:gs>
            <a:gs pos="100000">
              <a:srgbClr val="F6AD55">
                <a:alpha val="1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62000" y="-762000"/>
            <a:ext cx="3302000" cy="3302000"/>
          </a:xfrm>
          <a:prstGeom prst="ellipse">
            <a:avLst/>
          </a:prstGeom>
          <a:solidFill>
            <a:srgbClr val="4FD1C5">
              <a:alpha val="15000"/>
            </a:srgbClr>
          </a:solidFill>
          <a:ln cap="flat" cmpd="sng">
            <a:solidFill>
              <a:srgbClr val="33B7A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0" y="-508000"/>
            <a:ext cx="2794000" cy="2794000"/>
          </a:xfrm>
          <a:prstGeom prst="ellipse">
            <a:avLst/>
          </a:prstGeom>
          <a:solidFill>
            <a:srgbClr val="F6AD55">
              <a:alpha val="15000"/>
            </a:srgbClr>
          </a:solidFill>
          <a:ln cap="flat" cmpd="sng">
            <a:solidFill>
              <a:srgbClr val="DD913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-508000" y="4826000"/>
            <a:ext cx="2540000" cy="2540000"/>
          </a:xfrm>
          <a:prstGeom prst="ellipse">
            <a:avLst/>
          </a:prstGeom>
          <a:solidFill>
            <a:srgbClr val="FFB6C1">
              <a:alpha val="15000"/>
            </a:srgbClr>
          </a:solidFill>
          <a:ln cap="flat" cmpd="sng">
            <a:solidFill>
              <a:srgbClr val="E68D9A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287000" y="4572000"/>
            <a:ext cx="3048000" cy="3048000"/>
          </a:xfrm>
          <a:prstGeom prst="ellipse">
            <a:avLst/>
          </a:prstGeom>
          <a:solidFill>
            <a:srgbClr val="4FD1C5">
              <a:alpha val="10000"/>
            </a:srgbClr>
          </a:solidFill>
          <a:ln cap="flat" cmpd="sng">
            <a:solidFill>
              <a:srgbClr val="33B7A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0" y="2286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毕业联欢会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207000" y="3683000"/>
            <a:ext cx="17780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cap="flat" cmpd="sng">
            <a:solidFill>
              <a:srgbClr val="33B7A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0" y="4064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6AD55"/>
                </a:solidFill>
                <a:latin typeface="Noto Sans SC"/>
                <a:ea typeface="Noto Sans SC"/>
                <a:cs typeface="Noto Sans SC"/>
                <a:sym typeface="Noto Sans SC"/>
              </a:rPr>
              <a:t>马路口小学 六年级（4）班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5334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 spc="4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青春不散场 · 童心向未来 · 梦想正启航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6000" y="1651000"/>
            <a:ext cx="609600" cy="609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6400" y="1651000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FD1C5">
                <a:alpha val="12000"/>
              </a:srgbClr>
            </a:gs>
            <a:gs pos="100000">
              <a:srgbClr val="F6AD55">
                <a:alpha val="12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303000" y="177800"/>
            <a:ext cx="457200" cy="457200"/>
          </a:xfrm>
          <a:prstGeom prst="ellipse">
            <a:avLst/>
          </a:prstGeom>
          <a:solidFill>
            <a:srgbClr val="4FD1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31800" y="177800"/>
            <a:ext cx="457200" cy="457200"/>
          </a:xfrm>
          <a:prstGeom prst="ellipse">
            <a:avLst/>
          </a:prstGeom>
          <a:solidFill>
            <a:srgbClr val="F6AD5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98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节目单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429000" cy="584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1676400"/>
            <a:ext cx="279400" cy="279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95400" y="1587500"/>
            <a:ext cx="285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01. 舞蹈《果宝机甲》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209800"/>
            <a:ext cx="3429000" cy="584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362200"/>
            <a:ext cx="279400" cy="279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95400" y="2273300"/>
            <a:ext cx="285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02. 歌曲《精卫》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2895600"/>
            <a:ext cx="3429000" cy="584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3048000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295400" y="2959100"/>
            <a:ext cx="285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03. 古筝《诀别书》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581400"/>
            <a:ext cx="3429000" cy="584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" y="3733800"/>
            <a:ext cx="279400" cy="279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295400" y="3644900"/>
            <a:ext cx="285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04. 小游戏：你画我猜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267200"/>
            <a:ext cx="3429000" cy="584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4419600"/>
            <a:ext cx="279400" cy="279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295400" y="4330700"/>
            <a:ext cx="285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05. 歌曲《雨爱》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953000"/>
            <a:ext cx="3429000" cy="584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" y="5105400"/>
            <a:ext cx="279400" cy="279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295400" y="5016500"/>
            <a:ext cx="285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06. 小游戏：你做我猜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638800"/>
            <a:ext cx="3429000" cy="584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0" y="5791200"/>
            <a:ext cx="279400" cy="279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295400" y="5702300"/>
            <a:ext cx="285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07. 朗诵《致四班同学》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381500" y="1524000"/>
            <a:ext cx="3429000" cy="584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33900" y="1676400"/>
            <a:ext cx="279400" cy="279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4914900" y="1587500"/>
            <a:ext cx="285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08. 小游戏：逢七过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381500" y="2336800"/>
            <a:ext cx="3429000" cy="584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3900" y="2489200"/>
            <a:ext cx="279400" cy="2794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4914900" y="2400300"/>
            <a:ext cx="285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09. 歌曲《离开我的依赖》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381500" y="3149600"/>
            <a:ext cx="3429000" cy="584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33900" y="3302000"/>
            <a:ext cx="279400" cy="2794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4914900" y="3213100"/>
            <a:ext cx="285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10. 小游戏：抢凳子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4381500" y="3962400"/>
            <a:ext cx="3429000" cy="584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33900" y="4114800"/>
            <a:ext cx="279400" cy="2794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4914900" y="4025900"/>
            <a:ext cx="285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11. 朗诵《致老师》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4381500" y="4775200"/>
            <a:ext cx="3429000" cy="584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33900" y="4927600"/>
            <a:ext cx="279400" cy="279400"/>
          </a:xfrm>
          <a:prstGeom prst="rect">
            <a:avLst/>
          </a:prstGeom>
        </p:spPr>
      </p:pic>
      <p:sp>
        <p:nvSpPr>
          <p:cNvPr id="40" name="AutoShape 40"/>
          <p:cNvSpPr/>
          <p:nvPr/>
        </p:nvSpPr>
        <p:spPr>
          <a:xfrm>
            <a:off x="4914900" y="4838700"/>
            <a:ext cx="285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12. 小游戏：瞎子摸人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4381500" y="5588000"/>
            <a:ext cx="3429000" cy="584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3900" y="5740400"/>
            <a:ext cx="279400" cy="279400"/>
          </a:xfrm>
          <a:prstGeom prst="rect">
            <a:avLst/>
          </a:prstGeom>
        </p:spPr>
      </p:pic>
      <p:sp>
        <p:nvSpPr>
          <p:cNvPr id="43" name="AutoShape 43"/>
          <p:cNvSpPr/>
          <p:nvPr/>
        </p:nvSpPr>
        <p:spPr>
          <a:xfrm>
            <a:off x="4914900" y="5651500"/>
            <a:ext cx="285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13. 歌曲《纪念》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8001000" y="1524000"/>
            <a:ext cx="3429000" cy="584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45" name="Picture 4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53400" y="1676400"/>
            <a:ext cx="279400" cy="279400"/>
          </a:xfrm>
          <a:prstGeom prst="rect">
            <a:avLst/>
          </a:prstGeom>
        </p:spPr>
      </p:pic>
      <p:sp>
        <p:nvSpPr>
          <p:cNvPr id="46" name="AutoShape 46"/>
          <p:cNvSpPr/>
          <p:nvPr/>
        </p:nvSpPr>
        <p:spPr>
          <a:xfrm>
            <a:off x="8534400" y="1587500"/>
            <a:ext cx="285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14. 小游戏：蒙眼打人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8001000" y="2336800"/>
            <a:ext cx="3429000" cy="584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53400" y="2489200"/>
            <a:ext cx="279400" cy="279400"/>
          </a:xfrm>
          <a:prstGeom prst="rect">
            <a:avLst/>
          </a:prstGeom>
        </p:spPr>
      </p:pic>
      <p:sp>
        <p:nvSpPr>
          <p:cNvPr id="49" name="AutoShape 49"/>
          <p:cNvSpPr/>
          <p:nvPr/>
        </p:nvSpPr>
        <p:spPr>
          <a:xfrm>
            <a:off x="8534400" y="2400300"/>
            <a:ext cx="285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15. 小游戏：班级默契挑战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8001000" y="3149600"/>
            <a:ext cx="3429000" cy="584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1" name="Picture 5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53400" y="3302000"/>
            <a:ext cx="279400" cy="279400"/>
          </a:xfrm>
          <a:prstGeom prst="rect">
            <a:avLst/>
          </a:prstGeom>
        </p:spPr>
      </p:pic>
      <p:sp>
        <p:nvSpPr>
          <p:cNvPr id="52" name="AutoShape 52"/>
          <p:cNvSpPr/>
          <p:nvPr/>
        </p:nvSpPr>
        <p:spPr>
          <a:xfrm>
            <a:off x="8534400" y="3213100"/>
            <a:ext cx="285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16. 小游戏：真心话大冒险</a:t>
            </a:r>
            <a:endParaRPr lang="en-US" sz="1100"/>
          </a:p>
        </p:txBody>
      </p:sp>
      <p:sp>
        <p:nvSpPr>
          <p:cNvPr id="53" name="AutoShape 53"/>
          <p:cNvSpPr/>
          <p:nvPr/>
        </p:nvSpPr>
        <p:spPr>
          <a:xfrm>
            <a:off x="8001000" y="3962400"/>
            <a:ext cx="3429000" cy="584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53400" y="4114800"/>
            <a:ext cx="279400" cy="279400"/>
          </a:xfrm>
          <a:prstGeom prst="rect">
            <a:avLst/>
          </a:prstGeom>
        </p:spPr>
      </p:pic>
      <p:sp>
        <p:nvSpPr>
          <p:cNvPr id="55" name="AutoShape 55"/>
          <p:cNvSpPr/>
          <p:nvPr/>
        </p:nvSpPr>
        <p:spPr>
          <a:xfrm>
            <a:off x="8534400" y="4025900"/>
            <a:ext cx="285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17. 小游戏：击鼓传花</a:t>
            </a:r>
            <a:endParaRPr lang="en-US" sz="1100"/>
          </a:p>
        </p:txBody>
      </p:sp>
      <p:sp>
        <p:nvSpPr>
          <p:cNvPr id="56" name="AutoShape 56"/>
          <p:cNvSpPr/>
          <p:nvPr/>
        </p:nvSpPr>
        <p:spPr>
          <a:xfrm>
            <a:off x="8001000" y="4775200"/>
            <a:ext cx="3429000" cy="5842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7" name="Picture 57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153400" y="4927600"/>
            <a:ext cx="279400" cy="279400"/>
          </a:xfrm>
          <a:prstGeom prst="rect">
            <a:avLst/>
          </a:prstGeom>
        </p:spPr>
      </p:pic>
      <p:sp>
        <p:nvSpPr>
          <p:cNvPr id="58" name="AutoShape 58"/>
          <p:cNvSpPr/>
          <p:nvPr/>
        </p:nvSpPr>
        <p:spPr>
          <a:xfrm>
            <a:off x="8534400" y="4838700"/>
            <a:ext cx="285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18. 自由拍照 / 同学录</a:t>
            </a:r>
            <a:endParaRPr lang="en-US" sz="1100"/>
          </a:p>
        </p:txBody>
      </p:sp>
      <p:sp>
        <p:nvSpPr>
          <p:cNvPr id="59" name="AutoShape 59"/>
          <p:cNvSpPr/>
          <p:nvPr/>
        </p:nvSpPr>
        <p:spPr>
          <a:xfrm>
            <a:off x="8001000" y="5588000"/>
            <a:ext cx="3429000" cy="584200"/>
          </a:xfrm>
          <a:prstGeom prst="roundRect">
            <a:avLst>
              <a:gd name="adj" fmla="val 0"/>
            </a:avLst>
          </a:prstGeom>
          <a:solidFill>
            <a:srgbClr val="4FD1C5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53400" y="5740400"/>
            <a:ext cx="279400" cy="279400"/>
          </a:xfrm>
          <a:prstGeom prst="rect">
            <a:avLst/>
          </a:prstGeom>
        </p:spPr>
      </p:pic>
      <p:sp>
        <p:nvSpPr>
          <p:cNvPr id="61" name="AutoShape 61"/>
          <p:cNvSpPr/>
          <p:nvPr/>
        </p:nvSpPr>
        <p:spPr>
          <a:xfrm>
            <a:off x="8534400" y="5651500"/>
            <a:ext cx="285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19. 全班合唱《再见》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FD1C5">
                <a:alpha val="12000"/>
              </a:srgbClr>
            </a:gs>
            <a:gs pos="100000">
              <a:srgbClr val="F6AD55">
                <a:alpha val="12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635000"/>
            <a:ext cx="2540000" cy="2540000"/>
          </a:xfrm>
          <a:prstGeom prst="ellipse">
            <a:avLst/>
          </a:prstGeom>
          <a:solidFill>
            <a:srgbClr val="4FD1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1905000" cy="1905000"/>
          </a:xfrm>
          <a:prstGeom prst="ellipse">
            <a:avLst/>
          </a:prstGeom>
          <a:solidFill>
            <a:srgbClr val="F6AD5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果宝机甲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6AD55"/>
                </a:solidFill>
                <a:latin typeface="Noto Sans SC"/>
                <a:ea typeface="Noto Sans SC"/>
                <a:cs typeface="Noto Sans SC"/>
                <a:sym typeface="Noto Sans SC"/>
              </a:rPr>
              <a:t>✨ 小组舞蹈 · 活力登场 ✨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5207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8702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841500" y="26416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何梓萌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灵动舞步，用热情点燃舞台，展现果宝的飒爽英姿，每一个动作都充满了元气与活力。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2413000"/>
            <a:ext cx="5207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solidFill>
              <a:srgbClr val="F6AD5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8702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302500" y="26416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胡梓涵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天生的节奏掌控者，用精准的律动诠释机甲的力量与美感，让舞蹈充满独特的律动感。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4318000"/>
            <a:ext cx="5207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solidFill>
              <a:srgbClr val="F6AD5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7752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841500" y="45466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陈榆丹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甜美笑容搭配利落动作，完美演绎果宝的灵动与俏皮，为舞台增添一抹清新的色彩。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23000" y="4318000"/>
            <a:ext cx="5207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47752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02500" y="45466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廖红婷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爆发力十足，将机甲的热血与激情展现得淋漓尽致，每一个跳跃都充满了能量与张力。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FD1C5">
                <a:alpha val="15000"/>
              </a:srgbClr>
            </a:gs>
            <a:gs pos="100000">
              <a:srgbClr val="F6AD55">
                <a:alpha val="15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62000" y="-762000"/>
            <a:ext cx="2794000" cy="2794000"/>
          </a:xfrm>
          <a:prstGeom prst="ellipse">
            <a:avLst/>
          </a:prstGeom>
          <a:solidFill>
            <a:srgbClr val="4FD1C5">
              <a:alpha val="18000"/>
            </a:srgbClr>
          </a:solidFill>
          <a:ln cap="flat" cmpd="sng">
            <a:solidFill>
              <a:srgbClr val="33B7AB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0" y="4826000"/>
            <a:ext cx="3556000" cy="3556000"/>
          </a:xfrm>
          <a:prstGeom prst="ellipse">
            <a:avLst/>
          </a:prstGeom>
          <a:solidFill>
            <a:srgbClr val="F6AD55">
              <a:alpha val="18000"/>
            </a:srgbClr>
          </a:solidFill>
          <a:ln cap="flat" cmpd="sng">
            <a:solidFill>
              <a:srgbClr val="DD9136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668000" y="508000"/>
            <a:ext cx="1270000" cy="1270000"/>
          </a:xfrm>
          <a:prstGeom prst="ellipse">
            <a:avLst/>
          </a:prstGeom>
          <a:solidFill>
            <a:srgbClr val="4FD1C5">
              <a:alpha val="12000"/>
            </a:srgbClr>
          </a:solidFill>
          <a:ln cap="flat" cmpd="sng">
            <a:solidFill>
              <a:srgbClr val="33B7AB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08000" y="5207000"/>
            <a:ext cx="1778000" cy="1778000"/>
          </a:xfrm>
          <a:prstGeom prst="ellipse">
            <a:avLst/>
          </a:prstGeom>
          <a:solidFill>
            <a:srgbClr val="F6AD55">
              <a:alpha val="12000"/>
            </a:srgbClr>
          </a:solidFill>
          <a:ln cap="flat" cmpd="sng">
            <a:solidFill>
              <a:srgbClr val="DD9136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0" y="1778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精卫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292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独唱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1459">
            <a:off x="4191011" y="3930650"/>
            <a:ext cx="381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FD1C5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/>
        </p:nvSpPr>
        <p:spPr>
          <a:xfrm>
            <a:off x="3429000" y="4445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000" y="4813300"/>
            <a:ext cx="660400" cy="660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699000" y="46355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0" i="0" u="none" strike="noStrike">
                <a:solidFill>
                  <a:srgbClr val="2D374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演唱同学：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200" b="1" i="0" u="none" strike="noStrike">
                <a:solidFill>
                  <a:srgbClr val="F6AD55"/>
                </a:solidFill>
                <a:latin typeface="Noto Sans SC"/>
                <a:ea typeface="Noto Sans SC"/>
                <a:cs typeface="Noto Sans SC"/>
                <a:sym typeface="Noto Sans SC"/>
              </a:rPr>
              <a:t>刘映辰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0F7F5">
                <a:alpha val="100000"/>
              </a:srgbClr>
            </a:gs>
            <a:gs pos="100000">
              <a:srgbClr val="FFEBEE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0" y="-1524000"/>
            <a:ext cx="4064000" cy="40640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270000" y="4572000"/>
            <a:ext cx="3556000" cy="3556000"/>
          </a:xfrm>
          <a:prstGeom prst="ellipse">
            <a:avLst/>
          </a:prstGeom>
          <a:solidFill>
            <a:srgbClr val="F6AD5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2032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诀别书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330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FD1C5"/>
                </a:solidFill>
                <a:latin typeface="Noto Serif SC"/>
                <a:ea typeface="Noto Serif SC"/>
                <a:cs typeface="Noto Serif SC"/>
                <a:sym typeface="Noto Serif SC"/>
              </a:rPr>
              <a:t>古筝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429000" y="4699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solidFill>
              <a:srgbClr val="F6AD55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000" y="50546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572000" y="48895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弹奏同学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2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范小婉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FD1C5">
                <a:alpha val="12000"/>
              </a:srgbClr>
            </a:gs>
            <a:gs pos="100000">
              <a:srgbClr val="F6AD55">
                <a:alpha val="12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635000"/>
            <a:ext cx="2540000" cy="2540000"/>
          </a:xfrm>
          <a:prstGeom prst="ellipse">
            <a:avLst/>
          </a:prstGeom>
          <a:solidFill>
            <a:srgbClr val="F6AD5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508000" y="5080000"/>
            <a:ext cx="1905000" cy="1905000"/>
          </a:xfrm>
          <a:prstGeom prst="ellipse">
            <a:avLst/>
          </a:prstGeom>
          <a:solidFill>
            <a:srgbClr val="4FD1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你画我猜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cap="flat" cmpd="sng">
            <a:solidFill>
              <a:srgbClr val="33B7AB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159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00200" y="2184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参与规模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7305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每轮邀请3人上台，自由分配作画者与猜测者角色，考验默契时刻。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1905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F6AD55">
              <a:alpha val="10000"/>
            </a:srgbClr>
          </a:solidFill>
          <a:ln cap="flat" cmpd="sng">
            <a:solidFill>
              <a:srgbClr val="DD9136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900" y="2159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45100" y="2184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轮次安排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60900" y="27305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全场共进行2轮挑战，每轮换一组全新成员，让更多伙伴参与互动。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51800" y="1905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cap="flat" cmpd="sng">
            <a:solidFill>
              <a:srgbClr val="33B7AB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05800" y="21590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90000" y="2184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限时挑战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05800" y="27305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每轮限时10分钟，紧张又刺激，考验大家的手速与脑洞。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064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🎮 游戏规则详解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572000"/>
            <a:ext cx="10668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4826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397000" y="4826000"/>
            <a:ext cx="317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创作环节：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作画者抽取题目，在A4纸上进行绘画表达，不可使用文字提示。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5365625">
            <a:off x="4013168" y="5454713"/>
            <a:ext cx="127006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" name="Picture 2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02200" y="4826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5283200" y="4826000"/>
            <a:ext cx="317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竞猜规则：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猜测者根据画作竞猜，每人拥有2次机会，超时或猜错则本轮结束。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5365625">
            <a:off x="7264368" y="5454713"/>
            <a:ext cx="127006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" name="Picture 2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53400" y="48260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534400" y="4826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惊喜奖励：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猜对即可全员获得刮刮卡一张，赢取神秘奖品，乐趣多多！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0F7FA">
                <a:alpha val="100000"/>
              </a:srgbClr>
            </a:gs>
            <a:gs pos="100000">
              <a:srgbClr val="FCE4EC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62000" y="-762000"/>
            <a:ext cx="2794000" cy="2794000"/>
          </a:xfrm>
          <a:prstGeom prst="ellipse">
            <a:avLst/>
          </a:prstGeom>
          <a:solidFill>
            <a:srgbClr val="4FD1C5">
              <a:alpha val="12000"/>
            </a:srgbClr>
          </a:solidFill>
          <a:ln cap="flat" cmpd="sng">
            <a:solidFill>
              <a:srgbClr val="33B7AB">
                <a:alpha val="12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0" y="4572000"/>
            <a:ext cx="3556000" cy="3556000"/>
          </a:xfrm>
          <a:prstGeom prst="ellipse">
            <a:avLst/>
          </a:prstGeom>
          <a:solidFill>
            <a:srgbClr val="F6AD55">
              <a:alpha val="12000"/>
            </a:srgbClr>
          </a:solidFill>
          <a:ln cap="flat" cmpd="sng">
            <a:solidFill>
              <a:srgbClr val="DD9136">
                <a:alpha val="12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668000" y="508000"/>
            <a:ext cx="1397000" cy="1397000"/>
          </a:xfrm>
          <a:prstGeom prst="ellipse">
            <a:avLst/>
          </a:prstGeom>
          <a:solidFill>
            <a:srgbClr val="4FD1C5">
              <a:alpha val="8000"/>
            </a:srgbClr>
          </a:solidFill>
          <a:ln cap="flat" cmpd="sng">
            <a:solidFill>
              <a:srgbClr val="33B7AB">
                <a:alpha val="8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1778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雨爱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292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合唱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286000" y="4191000"/>
            <a:ext cx="3556000" cy="15240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40000" y="45212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302000" y="4445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张紫千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清澈嗓音 · 细腻情感诠释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350000" y="4191000"/>
            <a:ext cx="3556000" cy="1524000"/>
          </a:xfrm>
          <a:prstGeom prst="roundRect">
            <a:avLst>
              <a:gd name="adj" fmla="val 0"/>
            </a:avLst>
          </a:prstGeom>
          <a:solidFill>
            <a:srgbClr val="F6AD55">
              <a:alpha val="8000"/>
            </a:srgbClr>
          </a:solidFill>
          <a:ln w="12700" cap="flat" cmpd="sng">
            <a:solidFill>
              <a:srgbClr val="F6AD55">
                <a:alpha val="2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45212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366000" y="4445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李蕙菡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温柔和声 · 灵动舞台演绎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FD1C5">
                <a:alpha val="10000"/>
              </a:srgbClr>
            </a:gs>
            <a:gs pos="100000">
              <a:srgbClr val="FFB6C1">
                <a:alpha val="1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635000"/>
            <a:ext cx="2540000" cy="2540000"/>
          </a:xfrm>
          <a:prstGeom prst="ellipse">
            <a:avLst/>
          </a:prstGeom>
          <a:solidFill>
            <a:srgbClr val="4FD1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1905000" cy="1905000"/>
          </a:xfrm>
          <a:prstGeom prst="ellipse">
            <a:avLst/>
          </a:prstGeom>
          <a:solidFill>
            <a:srgbClr val="F6AD5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你做我猜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4FD1C5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159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184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参与配置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6670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每轮3人组队，一人负责肢体表演，两人根据动作竞猜，考验团队默契与脑洞创意！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1905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F6AD55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900" y="2159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68900" y="2184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6AD55"/>
                </a:solidFill>
                <a:latin typeface="Noto Sans SC"/>
                <a:ea typeface="Noto Sans SC"/>
                <a:cs typeface="Noto Sans SC"/>
                <a:sym typeface="Noto Sans SC"/>
              </a:rPr>
              <a:t>节奏安排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60900" y="26670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全场共开展2轮挑战，每轮换一组全新组合登场，每轮限时10分钟，紧张又刺激！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51800" y="1905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4FD1C5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05800" y="2159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13800" y="2184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惊喜奖励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05800" y="26670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每猜对一组词语，小组全员各得一张刮刮卡，刮开即有机会赢取精美礼品，趣味满满！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🎮 游戏规则详解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699000"/>
            <a:ext cx="10668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4953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397000" y="4953000"/>
            <a:ext cx="317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肢体演绎，禁止剧透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表演者抽取题目后，仅能用肢体动作、神态表情来传递信息，严禁说话、口型提示或直接描述。</a:t>
            </a:r>
          </a:p>
        </p:txBody>
      </p:sp>
      <p:cxnSp>
        <p:nvCxnSpPr>
          <p:cNvPr id="21" name="Connector 21"/>
          <p:cNvCxnSpPr/>
          <p:nvPr/>
        </p:nvCxnSpPr>
        <p:spPr>
          <a:xfrm rot="5357033">
            <a:off x="4140160" y="5454729"/>
            <a:ext cx="101607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2" name="Picture 2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02200" y="4953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5283200" y="4953000"/>
            <a:ext cx="317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有限机会，超时即止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每位猜测者拥有2次答题机会，若两人均猜错或在规定时间内未答出，则该局结束，本轮无奖励。</a:t>
            </a:r>
          </a:p>
        </p:txBody>
      </p:sp>
      <p:cxnSp>
        <p:nvCxnSpPr>
          <p:cNvPr id="24" name="Connector 24"/>
          <p:cNvCxnSpPr/>
          <p:nvPr/>
        </p:nvCxnSpPr>
        <p:spPr>
          <a:xfrm rot="5357033">
            <a:off x="7518360" y="5454729"/>
            <a:ext cx="101607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0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5" name="Picture 2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80400" y="49530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661400" y="4953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公平公正，欢乐至上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现场随机邀请观众组队，全程公开透明，以趣味互动为核心，让每个人都享受游戏乐趣。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F8F6">
                <a:alpha val="100000"/>
              </a:srgbClr>
            </a:gs>
            <a:gs pos="100000">
              <a:srgbClr val="FFF5E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762000"/>
            <a:ext cx="2794000" cy="2794000"/>
          </a:xfrm>
          <a:prstGeom prst="ellipse">
            <a:avLst/>
          </a:prstGeom>
          <a:solidFill>
            <a:srgbClr val="4FD1C5">
              <a:alpha val="15000"/>
            </a:srgbClr>
          </a:solidFill>
          <a:ln cap="flat" cmpd="sng">
            <a:solidFill>
              <a:srgbClr val="33B7AB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762000" y="5080000"/>
            <a:ext cx="2286000" cy="2286000"/>
          </a:xfrm>
          <a:prstGeom prst="ellipse">
            <a:avLst/>
          </a:prstGeom>
          <a:solidFill>
            <a:srgbClr val="F6AD55">
              <a:alpha val="15000"/>
            </a:srgbClr>
          </a:solidFill>
          <a:ln cap="flat" cmpd="sng">
            <a:solidFill>
              <a:srgbClr val="DD9136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270000" y="1905000"/>
            <a:ext cx="508000" cy="508000"/>
          </a:xfrm>
          <a:prstGeom prst="ellipse">
            <a:avLst/>
          </a:prstGeom>
          <a:solidFill>
            <a:srgbClr val="F6AD55">
              <a:alpha val="20000"/>
            </a:srgbClr>
          </a:solidFill>
          <a:ln cap="flat" cmpd="sng">
            <a:solidFill>
              <a:srgbClr val="DD9136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795000" y="4445000"/>
            <a:ext cx="381000" cy="381000"/>
          </a:xfrm>
          <a:prstGeom prst="ellipse">
            <a:avLst/>
          </a:prstGeom>
          <a:solidFill>
            <a:srgbClr val="4FD1C5">
              <a:alpha val="20000"/>
            </a:srgbClr>
          </a:solidFill>
          <a:ln cap="flat" cmpd="sng">
            <a:solidFill>
              <a:srgbClr val="33B7AB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0" y="1270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致四班同学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905000" y="2921000"/>
            <a:ext cx="8382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3000" y="3670300"/>
            <a:ext cx="914400" cy="914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683000" y="3302000"/>
            <a:ext cx="609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以声传情 · 共话同窗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683000" y="3873500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6AD55"/>
                </a:solidFill>
                <a:latin typeface="Noto Sans SC"/>
                <a:ea typeface="Noto Sans SC"/>
                <a:cs typeface="Noto Sans SC"/>
                <a:sym typeface="Noto Sans SC"/>
              </a:rPr>
              <a:t>朗读者：刘宇辰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83000" y="4699000"/>
            <a:ext cx="609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让我们在深情的朗诵中，重温那些温暖的瞬间与珍贵的友谊，让青春的记忆永远鲜活。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0" y="59055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D3748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—— 青春不散场，友谊永长存 ——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0F2F1">
                <a:alpha val="100000"/>
              </a:srgbClr>
            </a:gs>
            <a:gs pos="100000">
              <a:srgbClr val="FFEBEE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635000"/>
            <a:ext cx="2540000" cy="2540000"/>
          </a:xfrm>
          <a:prstGeom prst="ellipse">
            <a:avLst/>
          </a:prstGeom>
          <a:solidFill>
            <a:srgbClr val="4FD1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1905000" cy="1905000"/>
          </a:xfrm>
          <a:prstGeom prst="ellipse">
            <a:avLst/>
          </a:prstGeom>
          <a:solidFill>
            <a:srgbClr val="F6AD5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逢七过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066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006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核心规则 · 反应大挑战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476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按顺时针依次报数，遇含“7”或7的倍数时喊“过”。若迟疑或报错，需接受即兴表演惩罚，随后从该同学处重新开始。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6AD55">
              <a:alpha val="8000"/>
            </a:srgbClr>
          </a:solidFill>
          <a:ln w="12700" cap="flat" cmpd="sng">
            <a:solidFill>
              <a:srgbClr val="F6AD55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0066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2006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6AD55"/>
                </a:solidFill>
                <a:latin typeface="Noto Sans SC"/>
                <a:ea typeface="Noto Sans SC"/>
                <a:cs typeface="Noto Sans SC"/>
                <a:sym typeface="Noto Sans SC"/>
              </a:rPr>
              <a:t>全员集结 · 一个都不能少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2476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全班同学共同参与，无论你是活跃分子还是安静达人，都能在这场游戏中找到乐趣，快速拉近彼此距离，打破隔阂。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064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6AD55">
              <a:alpha val="8000"/>
            </a:srgbClr>
          </a:solidFill>
          <a:ln w="12700" cap="flat" cmpd="sng">
            <a:solidFill>
              <a:srgbClr val="F6AD55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2926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292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6AD55"/>
                </a:solidFill>
                <a:latin typeface="Noto Sans SC"/>
                <a:ea typeface="Noto Sans SC"/>
                <a:cs typeface="Noto Sans SC"/>
                <a:sym typeface="Noto Sans SC"/>
              </a:rPr>
              <a:t>限时挑战 · 5分钟欢乐时刻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762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游戏总时长5分钟，时间到即刻停止。在紧凑的时间里，挑战你的反应速度与专注力，享受紧张又刺激的氛围。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4064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42926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85000" y="4292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惊喜彩蛋 · 即兴才艺秀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4762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失误的同学需即兴表演节目，唱歌、跳舞、讲笑话或模仿秀均可。这不仅是惩罚，更是展示自我、活跃气氛的绝佳机会！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FD1C5">
                <a:alpha val="10000"/>
              </a:srgbClr>
            </a:gs>
            <a:gs pos="100000">
              <a:srgbClr val="F6AD55">
                <a:alpha val="1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62000" y="-762000"/>
            <a:ext cx="2794000" cy="2794000"/>
          </a:xfrm>
          <a:prstGeom prst="ellipse">
            <a:avLst/>
          </a:prstGeom>
          <a:solidFill>
            <a:srgbClr val="4FD1C5">
              <a:alpha val="12000"/>
            </a:srgbClr>
          </a:solidFill>
          <a:ln cap="flat" cmpd="sng">
            <a:solidFill>
              <a:srgbClr val="33B7AB">
                <a:alpha val="12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9906000" y="4826000"/>
            <a:ext cx="3556000" cy="3556000"/>
          </a:xfrm>
          <a:prstGeom prst="ellipse">
            <a:avLst/>
          </a:prstGeom>
          <a:solidFill>
            <a:srgbClr val="F6AD55">
              <a:alpha val="12000"/>
            </a:srgbClr>
          </a:solidFill>
          <a:ln cap="flat" cmpd="sng">
            <a:solidFill>
              <a:srgbClr val="DD9136">
                <a:alpha val="12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905000" y="5715000"/>
            <a:ext cx="381000" cy="381000"/>
          </a:xfrm>
          <a:prstGeom prst="ellipse">
            <a:avLst/>
          </a:prstGeom>
          <a:solidFill>
            <a:srgbClr val="F6AD55">
              <a:alpha val="20000"/>
            </a:srgbClr>
          </a:solidFill>
          <a:ln cap="flat" cmpd="sng">
            <a:solidFill>
              <a:srgbClr val="DD9136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0" y="1270000"/>
            <a:ext cx="254000" cy="254000"/>
          </a:xfrm>
          <a:prstGeom prst="ellipse">
            <a:avLst/>
          </a:prstGeom>
          <a:solidFill>
            <a:srgbClr val="4FD1C5">
              <a:alpha val="20000"/>
            </a:srgbClr>
          </a:solidFill>
          <a:ln cap="flat" cmpd="sng">
            <a:solidFill>
              <a:srgbClr val="33B7AB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0" y="2032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离开我的依赖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330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6AD55"/>
                </a:solidFill>
                <a:latin typeface="Noto Sans SC"/>
                <a:ea typeface="Noto Sans SC"/>
                <a:cs typeface="Noto Sans SC"/>
                <a:sym typeface="Noto Sans SC"/>
              </a:rPr>
              <a:t>合唱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302000" y="4445000"/>
            <a:ext cx="5588000" cy="1651000"/>
          </a:xfrm>
          <a:prstGeom prst="roundRect">
            <a:avLst>
              <a:gd name="adj" fmla="val 11538"/>
            </a:avLst>
          </a:prstGeom>
          <a:solidFill>
            <a:srgbClr val="FFFFFF">
              <a:alpha val="50000"/>
            </a:srgbClr>
          </a:solidFill>
          <a:ln w="254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0" y="4940300"/>
            <a:ext cx="660400" cy="660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572000" y="4635500"/>
            <a:ext cx="419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演唱同学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2000" b="0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李芳瑶 • 沈佳辰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0F7FA">
                <a:alpha val="100000"/>
              </a:srgbClr>
            </a:gs>
            <a:gs pos="100000">
              <a:srgbClr val="FCE4EC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635000"/>
            <a:ext cx="2540000" cy="2540000"/>
          </a:xfrm>
          <a:prstGeom prst="ellipse">
            <a:avLst/>
          </a:prstGeom>
          <a:solidFill>
            <a:srgbClr val="4FD1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1905000" cy="1905000"/>
          </a:xfrm>
          <a:prstGeom prst="ellipse">
            <a:avLst/>
          </a:prstGeom>
          <a:solidFill>
            <a:srgbClr val="F6AD5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抢凳子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334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🎮 趣味规则指南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03500"/>
            <a:ext cx="4826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音乐响起，参与者围绕凳子转圈；音乐骤停，迅速抢占座位！未抢到者遗憾出局。随后撤走一张凳子继续游戏，如此循环，直至决出最后一位“抢凳之王”。获胜者可当场领取专属刮刮卡，开启惊喜大奖！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0" y="17780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1968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21500" y="196850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每轮 6 人参与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540500" y="23876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现场随机邀请，上台零距离互动，感受心跳加速的紧张与欢乐。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207500" y="17780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F6AD5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8000" y="1968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779000" y="196850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共计 2 轮挑战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398000" y="23876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两轮轮换，让更多伙伴有机会上台体验，全场热情持续升温。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34925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ED64A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3683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21500" y="368300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约 5-7 分钟/轮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40500" y="41021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节奏紧凑不拖沓，轻松活跃气氛，为活动增添无限趣味。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207500" y="34925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ECC94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98000" y="3683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779000" y="368300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刮刮卡惊喜奖励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398000" y="41021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每轮胜者均可获得刮刮卡一张，即开即奖，好运连连！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334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12700" cap="flat" cmpd="sng">
            <a:solidFill>
              <a:srgbClr val="F6AD55">
                <a:alpha val="50000"/>
              </a:srgbClr>
            </a:solidFill>
            <a:prstDash val="dash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016000" y="5524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D64A6"/>
                </a:solidFill>
                <a:latin typeface="Noto Sans SC"/>
                <a:ea typeface="Noto Sans SC"/>
                <a:cs typeface="Noto Sans SC"/>
                <a:sym typeface="Noto Sans SC"/>
              </a:rPr>
              <a:t>✨ 谁能成为最后的“抢凳之王”？让我们拭目以待，音乐响起来！ ✨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FD1C5">
                <a:alpha val="12000"/>
              </a:srgbClr>
            </a:gs>
            <a:gs pos="100000">
              <a:srgbClr val="FFB6C1">
                <a:alpha val="12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62000" y="-762000"/>
            <a:ext cx="2540000" cy="2540000"/>
          </a:xfrm>
          <a:prstGeom prst="ellipse">
            <a:avLst/>
          </a:prstGeom>
          <a:solidFill>
            <a:srgbClr val="4FD1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414000" y="5080000"/>
            <a:ext cx="2286000" cy="2286000"/>
          </a:xfrm>
          <a:prstGeom prst="ellipse">
            <a:avLst/>
          </a:prstGeom>
          <a:solidFill>
            <a:srgbClr val="F6AD5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0" y="635000"/>
            <a:ext cx="1524000" cy="1524000"/>
          </a:xfrm>
          <a:prstGeom prst="ellipse">
            <a:avLst/>
          </a:prstGeom>
          <a:solidFill>
            <a:srgbClr val="4FD1C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1016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致老师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397000" y="2794000"/>
            <a:ext cx="4572000" cy="24130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4500" y="3111500"/>
            <a:ext cx="558800" cy="558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413000" y="31496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诗意颂恩 · 朗诵时刻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14500" y="38735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以声音为媒，传递对恩师的深深敬意。在字里行间，诉说成长路上的点滴感动，让真挚的情感化作诗意的旋律，致敬每一位引路人。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794000"/>
            <a:ext cx="4572000" cy="2413000"/>
          </a:xfrm>
          <a:prstGeom prst="roundRect">
            <a:avLst>
              <a:gd name="adj" fmla="val 0"/>
            </a:avLst>
          </a:prstGeom>
          <a:solidFill>
            <a:srgbClr val="F6AD55">
              <a:alpha val="8000"/>
            </a:srgbClr>
          </a:solidFill>
          <a:ln w="12700" cap="flat" cmpd="sng">
            <a:solidFill>
              <a:srgbClr val="F6AD55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0500" y="3111500"/>
            <a:ext cx="558800" cy="558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239000" y="31496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6AD55"/>
                </a:solidFill>
                <a:latin typeface="Noto Sans SC"/>
                <a:ea typeface="Noto Sans SC"/>
                <a:cs typeface="Noto Sans SC"/>
                <a:sym typeface="Noto Sans SC"/>
              </a:rPr>
              <a:t>朗诵嘉宾 · 刘宇辰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40500" y="38735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心怀感恩，用最真挚的情感演绎经典篇章。以饱满的情绪和清亮的嗓音，诠释师生情谊的美好与珍贵，展现青春学子的赤诚之心。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0" y="5715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1" u="none" strike="noStrike">
                <a:solidFill>
                  <a:srgbClr val="2D374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“一朝沐杏雨，一生念师恩”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0F2F1">
                <a:alpha val="100000"/>
              </a:srgbClr>
            </a:gs>
            <a:gs pos="100000">
              <a:srgbClr val="FFEBEE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635000"/>
            <a:ext cx="2540000" cy="2540000"/>
          </a:xfrm>
          <a:prstGeom prst="ellipse">
            <a:avLst/>
          </a:prstGeom>
          <a:solidFill>
            <a:srgbClr val="4FD1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1905000" cy="1905000"/>
          </a:xfrm>
          <a:prstGeom prst="ellipse">
            <a:avLst/>
          </a:prstGeom>
          <a:solidFill>
            <a:srgbClr val="F6AD5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瞎子摸人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4FD1C5">
              <a:alpha val="15000"/>
            </a:srgbClr>
          </a:solidFill>
          <a:ln cap="flat" cmpd="sng">
            <a:solidFill>
              <a:srgbClr val="33B7AB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8415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🎮 游戏规则：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5人通过石头剪刀布选出“瞎子”，蒙眼后开始抓人。被抓到者即刻出局；若“瞎子”抓住所有人则获胜，反之幸存者获胜，胜者均可领取刮刮卡奖励。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33782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492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4925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参与规模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9370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每轮邀请 5 位同学参与，现场随机组队，保证公平公正，让每个人都有机会参与。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06900" y="3302000"/>
            <a:ext cx="33782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6AD55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97400" y="3492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41900" y="34925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趣味轮次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97400" y="39370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共进行 2 轮游戏，每轮结束后重新组队，轮换参与，让更多同学体验游戏乐趣。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51800" y="3302000"/>
            <a:ext cx="33782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42300" y="34925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686800" y="34925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时间控制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42300" y="39370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每轮限时 10 分钟，节奏紧凑，避免冗长，确保游戏环节的高效与欢乐。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2705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F6AD5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62000" y="5270500"/>
            <a:ext cx="50800" cy="1079500"/>
          </a:xfrm>
          <a:prstGeom prst="roundRect">
            <a:avLst>
              <a:gd name="adj" fmla="val 0"/>
            </a:avLst>
          </a:prstGeom>
          <a:solidFill>
            <a:srgbClr val="F6AD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4356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460500" y="5435600"/>
            <a:ext cx="965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E67E22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安全小贴士：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游戏过程中请时刻留意周围环境。当“瞎子”即将碰撞桌椅、墙壁或其他障碍物时，周围同学请及时出声提醒，确保游戏在安全、愉快的氛围中进行！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FD1C5">
                <a:alpha val="15000"/>
              </a:srgbClr>
            </a:gs>
            <a:gs pos="100000">
              <a:srgbClr val="FCE4EC">
                <a:alpha val="25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08000" y="-508000"/>
            <a:ext cx="2032000" cy="2032000"/>
          </a:xfrm>
          <a:prstGeom prst="ellipse">
            <a:avLst/>
          </a:prstGeom>
          <a:solidFill>
            <a:srgbClr val="4FD1C5">
              <a:alpha val="15000"/>
            </a:srgbClr>
          </a:solidFill>
          <a:ln cap="flat" cmpd="sng">
            <a:solidFill>
              <a:srgbClr val="33B7AB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414000" y="5080000"/>
            <a:ext cx="2540000" cy="2540000"/>
          </a:xfrm>
          <a:prstGeom prst="ellipse">
            <a:avLst/>
          </a:prstGeom>
          <a:solidFill>
            <a:srgbClr val="F6AD55">
              <a:alpha val="15000"/>
            </a:srgbClr>
          </a:solidFill>
          <a:ln cap="flat" cmpd="sng">
            <a:solidFill>
              <a:srgbClr val="DD9136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1524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纪念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2667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独唱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032000" y="3937000"/>
            <a:ext cx="8128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40000" y="4419600"/>
            <a:ext cx="812800" cy="812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3683000" y="4191000"/>
            <a:ext cx="609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2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演唱同学：王汶千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6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“ 把藏在时光里的温柔与怀念，化作歌声娓娓道来 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FD1C5">
                <a:alpha val="10000"/>
              </a:srgbClr>
            </a:gs>
            <a:gs pos="100000">
              <a:srgbClr val="F6AD55">
                <a:alpha val="1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635000"/>
            <a:ext cx="2540000" cy="2540000"/>
          </a:xfrm>
          <a:prstGeom prst="ellipse">
            <a:avLst/>
          </a:prstGeom>
          <a:solidFill>
            <a:srgbClr val="4FD1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1905000" cy="1905000"/>
          </a:xfrm>
          <a:prstGeom prst="ellipse">
            <a:avLst/>
          </a:prstGeom>
          <a:solidFill>
            <a:srgbClr val="F6AD5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蒙眼打人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10668000" cy="15875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1778000"/>
            <a:ext cx="1028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🎮 游戏规则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5名同学通过石头剪刀布决出胜负，胜者蒙上眼睛作为「打人者」；其余同学选出一名「被打者」并背对打人者。被打者可发出方位指令（如向左/向右）调整位置，确认后喊出「打」并指定次数，打人者需严格按指令执行，过程中不可随意移动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556000"/>
            <a:ext cx="3429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746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746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参与人数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254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每轮仅限 5 人参与，通过石头剪刀布快速组队，公平又有趣，让每位同学都有机会上场。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3556000"/>
            <a:ext cx="3429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3746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16500" y="3746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轮次安排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72000" y="4254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全场共进行 2 轮游戏，每轮换人重新分组，确保更多同学能体验游戏乐趣，现场气氛持续升温。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3556000"/>
            <a:ext cx="3429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91500" y="37465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636000" y="3746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时间控制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91500" y="4254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每轮游戏限时 5 分钟，节奏紧凑不拖沓，既能充分享受游戏乐趣，又能确保活动流程高效推进。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3975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6AD55">
              <a:alpha val="12000"/>
            </a:srgbClr>
          </a:solidFill>
          <a:ln w="12700" cap="flat" cmpd="sng">
            <a:solidFill>
              <a:srgbClr val="F6AD55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56896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397000" y="5562600"/>
            <a:ext cx="990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E67E22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安全小贴士：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游戏过程中请务必控制力度，切勿用力过猛，避免误伤同学。友谊第一，比赛第二，安全才是最重要的哦！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FD1C5">
                <a:alpha val="12000"/>
              </a:srgbClr>
            </a:gs>
            <a:gs pos="100000">
              <a:srgbClr val="FFB6C1">
                <a:alpha val="12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762000"/>
            <a:ext cx="2540000" cy="2540000"/>
          </a:xfrm>
          <a:prstGeom prst="ellipse">
            <a:avLst/>
          </a:prstGeom>
          <a:solidFill>
            <a:srgbClr val="F6AD5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508000" y="5334000"/>
            <a:ext cx="1905000" cy="1905000"/>
          </a:xfrm>
          <a:prstGeom prst="ellipse">
            <a:avLst/>
          </a:prstGeom>
          <a:solidFill>
            <a:srgbClr val="4FD1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班级默契挑战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4FD1C5">
              <a:alpha val="15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057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游戏规则说明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667000"/>
            <a:ext cx="4699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主持人提出关于“班级之最”的趣味问题，邀请7位同学上台匿名写下心中答案。统计票数后，获票最高的同学将解锁专属“毕业称号”，用轻松有趣的方式唤醒班级共同回忆，考验大家的默契度！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2667000" cy="1651000"/>
          </a:xfrm>
          <a:prstGeom prst="roundRect">
            <a:avLst>
              <a:gd name="adj" fmla="val 0"/>
            </a:avLst>
          </a:prstGeom>
          <a:solidFill>
            <a:srgbClr val="F6AD55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1968500"/>
            <a:ext cx="330200" cy="330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858000" y="19812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6AD55"/>
                </a:solidFill>
                <a:latin typeface="Noto Sans SC"/>
                <a:ea typeface="Noto Sans SC"/>
                <a:cs typeface="Noto Sans SC"/>
                <a:sym typeface="Noto Sans SC"/>
              </a:rPr>
              <a:t>参与规模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13500" y="24384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每轮邀请7位同学上台，随机抽取，让更多伙伴参与其中，共享欢乐时刻。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017000" y="1778000"/>
            <a:ext cx="2667000" cy="1651000"/>
          </a:xfrm>
          <a:prstGeom prst="roundRect">
            <a:avLst>
              <a:gd name="adj" fmla="val 0"/>
            </a:avLst>
          </a:prstGeom>
          <a:solidFill>
            <a:srgbClr val="4FD1C5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07500" y="1968500"/>
            <a:ext cx="330200" cy="330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652000" y="19812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趣味轮次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207500" y="24384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共设置3轮挑战，每轮更换不同同学，覆盖更多班级趣事，持续升温氛围。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3683000"/>
            <a:ext cx="2667000" cy="1651000"/>
          </a:xfrm>
          <a:prstGeom prst="roundRect">
            <a:avLst>
              <a:gd name="adj" fmla="val 0"/>
            </a:avLst>
          </a:prstGeom>
          <a:solidFill>
            <a:srgbClr val="4FD1C5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3500" y="3873500"/>
            <a:ext cx="330200" cy="330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858000" y="38862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时间节奏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13500" y="43434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每轮约2-5分钟，节奏轻快不拖沓，为聚会增添轻松愉悦的互动体验。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017000" y="3683000"/>
            <a:ext cx="2667000" cy="1651000"/>
          </a:xfrm>
          <a:prstGeom prst="roundRect">
            <a:avLst>
              <a:gd name="adj" fmla="val 0"/>
            </a:avLst>
          </a:prstGeom>
          <a:solidFill>
            <a:srgbClr val="F6AD55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07500" y="3873500"/>
            <a:ext cx="330200" cy="330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652000" y="38862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6AD55"/>
                </a:solidFill>
                <a:latin typeface="Noto Sans SC"/>
                <a:ea typeface="Noto Sans SC"/>
                <a:cs typeface="Noto Sans SC"/>
                <a:sym typeface="Noto Sans SC"/>
              </a:rPr>
              <a:t>专属称号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207500" y="43434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每轮胜出者将获得独一无二的“班级之最”称号，成为班级记忆里的趣味焦点。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5778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0" i="1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✨ 用一场趣味挑战，定格属于我们的独家青春记忆，让默契在欢笑中升温！ ✨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FD1C5">
                <a:alpha val="15000"/>
              </a:srgbClr>
            </a:gs>
            <a:gs pos="100000">
              <a:srgbClr val="FFB6C1">
                <a:alpha val="15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635000"/>
            <a:ext cx="2540000" cy="2540000"/>
          </a:xfrm>
          <a:prstGeom prst="ellipse">
            <a:avLst/>
          </a:prstGeom>
          <a:solidFill>
            <a:srgbClr val="F6AD5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1905000" cy="1905000"/>
          </a:xfrm>
          <a:prstGeom prst="ellipse">
            <a:avLst/>
          </a:prstGeom>
          <a:solidFill>
            <a:srgbClr val="4FD1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班级默契挑战小问题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225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16000" y="2984500"/>
            <a:ext cx="287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最爱睡觉的人是谁？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6195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无论是课堂上的昏昏欲睡，还是课间的秒睡神功，谁是你心中当之无愧的“特困生”？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826000"/>
            <a:ext cx="287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6AD55"/>
                </a:solidFill>
                <a:latin typeface="Noto Sans SC"/>
                <a:ea typeface="Noto Sans SC"/>
                <a:cs typeface="Noto Sans SC"/>
                <a:sym typeface="Noto Sans SC"/>
              </a:rPr>
              <a:t>🏆 获封：班级睡神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94200" y="1905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8200" y="22225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648200" y="2984500"/>
            <a:ext cx="287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谁最爱迟到？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48200" y="36195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总是与上课铃声擦肩而过，还是永远在路上？快来选出班里的“踩点大师”！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48200" y="4826000"/>
            <a:ext cx="287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6AD55"/>
                </a:solidFill>
                <a:latin typeface="Noto Sans SC"/>
                <a:ea typeface="Noto Sans SC"/>
                <a:cs typeface="Noto Sans SC"/>
                <a:sym typeface="Noto Sans SC"/>
              </a:rPr>
              <a:t>🏆 获封：迟到之神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26400" y="1905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80400" y="22225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280400" y="2984500"/>
            <a:ext cx="287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谁写字最像甲骨文？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80400" y="36195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字体抽象到需要“考古”，笔画龙飞凤舞自成一派，谁是班里的神秘书法传人？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280400" y="4826000"/>
            <a:ext cx="287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6AD55"/>
                </a:solidFill>
                <a:latin typeface="Noto Sans SC"/>
                <a:ea typeface="Noto Sans SC"/>
                <a:cs typeface="Noto Sans SC"/>
                <a:sym typeface="Noto Sans SC"/>
              </a:rPr>
              <a:t>🏆 获封：甲骨文传承者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842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现在，请拿起手中的投票器，为你心中的“最佳人选”投上一票吧！ 🗳️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FD1C5">
                <a:alpha val="12000"/>
              </a:srgbClr>
            </a:gs>
            <a:gs pos="100000">
              <a:srgbClr val="FCA5A5">
                <a:alpha val="12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635000"/>
            <a:ext cx="2540000" cy="2540000"/>
          </a:xfrm>
          <a:prstGeom prst="ellipse">
            <a:avLst/>
          </a:prstGeom>
          <a:solidFill>
            <a:srgbClr val="4FD1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508000" y="5334000"/>
            <a:ext cx="1905000" cy="1905000"/>
          </a:xfrm>
          <a:prstGeom prst="ellipse">
            <a:avLst/>
          </a:prstGeom>
          <a:solidFill>
            <a:srgbClr val="F6AD5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真心话大冒险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8415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95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2095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 / 核心玩法规则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6035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随机抽取一名挑战者，再抽一位幸运观众发起指令。挑战者可自选“真心话”或“大冒险”，需公开回应或执行，不可推脱或更改，感受未知的惊喜与刺激。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8415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6AD5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0955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048500" y="2095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6AD55"/>
                </a:solidFill>
                <a:latin typeface="Noto Sans SC"/>
                <a:ea typeface="Noto Sans SC"/>
                <a:cs typeface="Noto Sans SC"/>
                <a:sym typeface="Noto Sans SC"/>
              </a:rPr>
              <a:t>02 / 趣味参与机制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26035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每轮互动需2人参与（挑战者+幸运观众），全场共进行3轮挑战。每轮均重新随机抽取，让更多同学有机会加入这场欢乐互动，拒绝冷场！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0005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2545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87500" y="4254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03 / 灵活时间安排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7625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游戏时长不设硬性限制，每轮建议控制在3-7分钟。可根据现场氛围灵活调整，让游戏在轻松愉悦的节奏中自然推进，避免拖沓。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40005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6AD5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42545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048500" y="4254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6AD55"/>
                </a:solidFill>
                <a:latin typeface="Noto Sans SC"/>
                <a:ea typeface="Noto Sans SC"/>
                <a:cs typeface="Noto Sans SC"/>
                <a:sym typeface="Noto Sans SC"/>
              </a:rPr>
              <a:t>04 / 欢乐底线约定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47625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被抽中者请积极上台配合，幸运观众请勿提出过分、隐私或难以完成的要求。尊重彼此，让游戏始终保持轻松友好的氛围，快乐至上！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6096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✨ 放下拘谨，享受这场充满欢笑与心跳的惊喜派对吧！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FD1C5">
                <a:alpha val="15000"/>
              </a:srgbClr>
            </a:gs>
            <a:gs pos="100000">
              <a:srgbClr val="F6AD55">
                <a:alpha val="15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4FD1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016000" y="4826000"/>
            <a:ext cx="3175000" cy="3175000"/>
          </a:xfrm>
          <a:prstGeom prst="ellipse">
            <a:avLst/>
          </a:prstGeom>
          <a:solidFill>
            <a:srgbClr val="F6AD5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击鼓传花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413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2438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01 趣味规则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9845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音乐响起时依次传递道具，音乐骤停时，手持道具的同学需即兴表演节目（形式不限），表演结束后重新开始传递，欢乐无限。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59500" y="2159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F6AD5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2413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2438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02 全员参与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13500" y="29845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面向全班同学开放，无门槛限制，每个人都有机会成为舞台的焦点，在互动中拉近彼此距离，打破隔阂。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2545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5085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87500" y="4533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03 灵活节奏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5080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无固定轮次安排，节奏随音乐随机变化，充满未知与惊喜，让每一次传递都充满期待感。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159500" y="42545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F6AD5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3500" y="45085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85000" y="4533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04 限时欢乐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13500" y="5080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总时长约5分钟，短时间内快速调动现场气氛，作为活动的暖场环节，高效且充满趣味。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FD1C5">
                <a:alpha val="10000"/>
              </a:srgbClr>
            </a:gs>
            <a:gs pos="100000">
              <a:srgbClr val="FFB6C1">
                <a:alpha val="15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14000" y="-635000"/>
            <a:ext cx="2286000" cy="2286000"/>
          </a:xfrm>
          <a:prstGeom prst="ellipse">
            <a:avLst/>
          </a:prstGeom>
          <a:solidFill>
            <a:srgbClr val="4FD1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508000" y="5334000"/>
            <a:ext cx="1524000" cy="1524000"/>
          </a:xfrm>
          <a:prstGeom prst="ellipse">
            <a:avLst/>
          </a:prstGeom>
          <a:solidFill>
            <a:srgbClr val="F6AD5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纪念活动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自由拍照，写赠言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667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692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定格美好瞬间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302000"/>
            <a:ext cx="2870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拿起相机记录青春模样，与同窗好友合影留念。在同学录上写下最真挚的祝福，让此刻的欢笑与感动成为永久珍藏的记忆。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24130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F6AD55">
              <a:alpha val="8000"/>
            </a:srgbClr>
          </a:solidFill>
          <a:ln w="12700" cap="flat" cmpd="sng">
            <a:solidFill>
              <a:srgbClr val="F6AD5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900" y="2667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168900" y="2692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时间温馨提示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60900" y="3302000"/>
            <a:ext cx="2870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自由活动环节将在联欢会结束前5分钟停止。请大家合理安排时间，结束后迅速回到座位，准备最后的集体合影，不要留下遗憾哦！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51800" y="24130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05800" y="2667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13800" y="2692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文明活动小叮咛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05800" y="3302000"/>
            <a:ext cx="2870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请保持轻声交流，避免大声喧哗影响他人；放下手机，多与身边的同学面对面聊聊，珍惜这难得的相聚时光，让回忆更温暖。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58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6AD55"/>
                </a:solidFill>
                <a:latin typeface="Noto Sans SC"/>
                <a:ea typeface="Noto Sans SC"/>
                <a:cs typeface="Noto Sans SC"/>
                <a:sym typeface="Noto Sans SC"/>
              </a:rPr>
              <a:t>“ 愿此去繁花似锦，再相逢依然如故 ”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FD1C5">
                <a:alpha val="10000"/>
              </a:srgbClr>
            </a:gs>
            <a:gs pos="100000">
              <a:srgbClr val="FCE4EC">
                <a:alpha val="15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270000"/>
            <a:ext cx="3810000" cy="3810000"/>
          </a:xfrm>
          <a:prstGeom prst="ellipse">
            <a:avLst/>
          </a:prstGeom>
          <a:solidFill>
            <a:srgbClr val="4FD1C5">
              <a:alpha val="8000"/>
            </a:srgbClr>
          </a:solidFill>
          <a:ln cap="flat" cmpd="sng">
            <a:solidFill>
              <a:srgbClr val="33B7AB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0" y="5080000"/>
            <a:ext cx="2540000" cy="2540000"/>
          </a:xfrm>
          <a:prstGeom prst="ellipse">
            <a:avLst/>
          </a:prstGeom>
          <a:solidFill>
            <a:srgbClr val="F6AD55">
              <a:alpha val="8000"/>
            </a:srgbClr>
          </a:solidFill>
          <a:ln cap="flat" cmpd="sng">
            <a:solidFill>
              <a:srgbClr val="DD9136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再见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2794000" cy="2794000"/>
          </a:xfrm>
          <a:prstGeom prst="ellipse">
            <a:avLst/>
          </a:prstGeom>
          <a:solidFill>
            <a:srgbClr val="4FD1C5">
              <a:alpha val="15000"/>
            </a:srgbClr>
          </a:solidFill>
          <a:ln cap="flat" cmpd="sng">
            <a:solidFill>
              <a:srgbClr val="33B7A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87500" y="2730500"/>
            <a:ext cx="1651000" cy="1651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4318000" y="2159000"/>
            <a:ext cx="660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全班合唱 · 定格美好瞬间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18000" y="3048000"/>
            <a:ext cx="685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快乐的时光总是短暂，此刻让我们全体起立，共同唱响这首《再见》。歌声里藏着六年的欢笑与回忆，也寄托着对未来的美好期许。让我们用最真挚的声音，为这段难忘的小学时光画上圆满的句号。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18000" y="4572000"/>
            <a:ext cx="6858000" cy="1397000"/>
          </a:xfrm>
          <a:prstGeom prst="roundRect">
            <a:avLst>
              <a:gd name="adj" fmla="val 10909"/>
            </a:avLst>
          </a:prstGeom>
          <a:solidFill>
            <a:srgbClr val="F6AD55">
              <a:alpha val="10000"/>
            </a:srgbClr>
          </a:solidFill>
          <a:ln w="12700" cap="flat" cmpd="sng">
            <a:solidFill>
              <a:srgbClr val="F6AD5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4762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953000" y="4762500"/>
            <a:ext cx="609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ED8936"/>
                </a:solidFill>
                <a:latin typeface="Noto Sans SC"/>
                <a:ea typeface="Noto Sans SC"/>
                <a:cs typeface="Noto Sans SC"/>
                <a:sym typeface="Noto Sans SC"/>
              </a:rPr>
              <a:t>轻松参与小贴士：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忘记歌词也没关系，跟着旋律轻声哼唱就好；如果你想静静感受这份氛围，坐在座位上聆听也是一种美好的参与方式。享受当下，就是最好的告别。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0F2F1">
                <a:alpha val="100000"/>
              </a:srgbClr>
            </a:gs>
            <a:gs pos="100000">
              <a:srgbClr val="FFF3E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62000" y="-762000"/>
            <a:ext cx="2794000" cy="2794000"/>
          </a:xfrm>
          <a:prstGeom prst="ellipse">
            <a:avLst/>
          </a:prstGeom>
          <a:solidFill>
            <a:srgbClr val="4FD1C5">
              <a:alpha val="15000"/>
            </a:srgbClr>
          </a:solidFill>
          <a:ln cap="flat" cmpd="sng">
            <a:solidFill>
              <a:srgbClr val="33B7A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414000" y="4826000"/>
            <a:ext cx="2540000" cy="2540000"/>
          </a:xfrm>
          <a:prstGeom prst="ellipse">
            <a:avLst/>
          </a:prstGeom>
          <a:solidFill>
            <a:srgbClr val="F6AD55">
              <a:alpha val="15000"/>
            </a:srgbClr>
          </a:solidFill>
          <a:ln cap="flat" cmpd="sng">
            <a:solidFill>
              <a:srgbClr val="DD913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795000" y="508000"/>
            <a:ext cx="1270000" cy="1270000"/>
          </a:xfrm>
          <a:prstGeom prst="ellipse">
            <a:avLst/>
          </a:prstGeom>
          <a:solidFill>
            <a:srgbClr val="4FD1C5">
              <a:alpha val="10000"/>
            </a:srgbClr>
          </a:solidFill>
          <a:ln cap="flat" cmpd="sng">
            <a:solidFill>
              <a:srgbClr val="33B7A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08000" y="5461000"/>
            <a:ext cx="1016000" cy="1016000"/>
          </a:xfrm>
          <a:prstGeom prst="ellipse">
            <a:avLst/>
          </a:prstGeom>
          <a:solidFill>
            <a:srgbClr val="F6AD55">
              <a:alpha val="10000"/>
            </a:srgbClr>
          </a:solidFill>
          <a:ln cap="flat" cmpd="sng">
            <a:solidFill>
              <a:srgbClr val="DD9136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0" y="1524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毕业联欢会结束！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28575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6AD55"/>
                </a:solidFill>
                <a:latin typeface="Noto Sans SC"/>
                <a:ea typeface="Noto Sans SC"/>
                <a:cs typeface="Noto Sans SC"/>
                <a:sym typeface="Noto Sans SC"/>
              </a:rPr>
              <a:t>谢谢大家的参与！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937000"/>
            <a:ext cx="10414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4127500"/>
            <a:ext cx="990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20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愿大家接下来的路，都比今天走的更远，更稳，更出彩！</a:t>
            </a:r>
            <a:br>
              <a:rPr lang="en-US" sz="20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0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带着梦想奔赴山海，青春永不散场，我们顶峰相见！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0" y="5778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D3748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—— 六年级（4）班 · 2026毕业季 ——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76000" y="2921000"/>
            <a:ext cx="406400" cy="406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" y="29845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1397</Words>
  <Application>Microsoft Office PowerPoint</Application>
  <PresentationFormat>宽屏</PresentationFormat>
  <Paragraphs>258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Noto Sans SC</vt:lpstr>
      <vt:lpstr>Noto Serif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SteamUser</dc:creator>
  <cp:lastModifiedBy>yk w</cp:lastModifiedBy>
  <cp:revision>1</cp:revision>
  <dcterms:modified xsi:type="dcterms:W3CDTF">2026-09-11T09:29:57Z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{"Label":"1","ContentProducer":"001191110102MACQD9K64010000","ProduceID":"7684206988784127170","ReservedCode1":"","ContentPropagator":"","PropagateID":"","ReservedCode2":""}</vt:lpwstr>
  </property>
</Properties>
</file>